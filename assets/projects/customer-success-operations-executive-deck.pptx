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f402b93a4448c" /><Relationship Type="http://schemas.openxmlformats.org/officeDocument/2006/relationships/extended-properties" Target="/docProps/app.xml" Id="Rf78ec94f18b7473f" /><Relationship Type="http://schemas.openxmlformats.org/officeDocument/2006/relationships/officeDocument" Target="/ppt/presentation.xml" Id="R163f52ec803b4a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e8a5fdbafe4c39"/>
  </p:sldMasterIdLst>
  <p:notesMasterIdLst>
    <p:notesMasterId xmlns:r="http://schemas.openxmlformats.org/officeDocument/2006/relationships" r:id="Rd689d6d63a2842c8"/>
  </p:notesMasterIdLst>
  <p:sldIdLst>
    <p:sldId xmlns:r="http://schemas.openxmlformats.org/officeDocument/2006/relationships" id="256" r:id="R2c112d5a2e0643dc"/>
    <p:sldId xmlns:r="http://schemas.openxmlformats.org/officeDocument/2006/relationships" id="257" r:id="R529be13623df4607"/>
    <p:sldId xmlns:r="http://schemas.openxmlformats.org/officeDocument/2006/relationships" id="258" r:id="R986b142b5b014c80"/>
    <p:sldId xmlns:r="http://schemas.openxmlformats.org/officeDocument/2006/relationships" id="259" r:id="Rfa4b2353ed634c88"/>
    <p:sldId xmlns:r="http://schemas.openxmlformats.org/officeDocument/2006/relationships" id="260" r:id="R0f590c41792848b9"/>
    <p:sldId xmlns:r="http://schemas.openxmlformats.org/officeDocument/2006/relationships" id="261" r:id="Rc182ab1ef9dc468f"/>
    <p:sldId xmlns:r="http://schemas.openxmlformats.org/officeDocument/2006/relationships" id="262" r:id="R1c71f18e0a574827"/>
    <p:sldId xmlns:r="http://schemas.openxmlformats.org/officeDocument/2006/relationships" id="263" r:id="Rd31e11afd86846db"/>
    <p:sldId xmlns:r="http://schemas.openxmlformats.org/officeDocument/2006/relationships" id="264" r:id="R8773bec6e1fb4719"/>
    <p:sldId xmlns:r="http://schemas.openxmlformats.org/officeDocument/2006/relationships" id="265" r:id="Reb121328253442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c1df7373cd4d69" /><Relationship Type="http://schemas.openxmlformats.org/officeDocument/2006/relationships/slideMaster" Target="/ppt/slideMasters/slideMaster1.xml" Id="R68e8a5fdbafe4c39" /><Relationship Type="http://schemas.openxmlformats.org/officeDocument/2006/relationships/notesMaster" Target="/ppt/notesMasters/notesMaster1.xml" Id="Rd689d6d63a2842c8" /><Relationship Type="http://schemas.openxmlformats.org/officeDocument/2006/relationships/presProps" Target="/ppt/presProps.xml" Id="R9d77a0ac3f024ba7" /><Relationship Type="http://schemas.openxmlformats.org/officeDocument/2006/relationships/tableStyles" Target="/ppt/tableStyles.xml" Id="Rd3ae2f0a756e4038" /><Relationship Type="http://schemas.openxmlformats.org/officeDocument/2006/relationships/slide" Target="/ppt/slides/slide1.xml" Id="R2c112d5a2e0643dc" /><Relationship Type="http://schemas.openxmlformats.org/officeDocument/2006/relationships/slide" Target="/ppt/slides/slide2.xml" Id="R529be13623df4607" /><Relationship Type="http://schemas.openxmlformats.org/officeDocument/2006/relationships/slide" Target="/ppt/slides/slide3.xml" Id="R986b142b5b014c80" /><Relationship Type="http://schemas.openxmlformats.org/officeDocument/2006/relationships/slide" Target="/ppt/slides/slide4.xml" Id="Rfa4b2353ed634c88" /><Relationship Type="http://schemas.openxmlformats.org/officeDocument/2006/relationships/slide" Target="/ppt/slides/slide5.xml" Id="R0f590c41792848b9" /><Relationship Type="http://schemas.openxmlformats.org/officeDocument/2006/relationships/slide" Target="/ppt/slides/slide6.xml" Id="Rc182ab1ef9dc468f" /><Relationship Type="http://schemas.openxmlformats.org/officeDocument/2006/relationships/slide" Target="/ppt/slides/slide7.xml" Id="R1c71f18e0a574827" /><Relationship Type="http://schemas.openxmlformats.org/officeDocument/2006/relationships/slide" Target="/ppt/slides/slide8.xml" Id="Rd31e11afd86846db" /><Relationship Type="http://schemas.openxmlformats.org/officeDocument/2006/relationships/slide" Target="/ppt/slides/slide9.xml" Id="R8773bec6e1fb4719" /><Relationship Type="http://schemas.openxmlformats.org/officeDocument/2006/relationships/slide" Target="/ppt/slides/slide10.xml" Id="Reb1213282534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3df3a37824d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3d2e487ea4ec9" /><Relationship Type="http://schemas.openxmlformats.org/officeDocument/2006/relationships/notesMaster" Target="/ppt/notesMasters/notesMaster1.xml" Id="R767c3ce1bfbd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137baeb35b4b12" /><Relationship Type="http://schemas.openxmlformats.org/officeDocument/2006/relationships/notesMaster" Target="/ppt/notesMasters/notesMaster1.xml" Id="R767710385f3741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8f21bfe92f49bf" /><Relationship Type="http://schemas.openxmlformats.org/officeDocument/2006/relationships/notesMaster" Target="/ppt/notesMasters/notesMaster1.xml" Id="R9e953811881847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b82d3f02304305" /><Relationship Type="http://schemas.openxmlformats.org/officeDocument/2006/relationships/notesMaster" Target="/ppt/notesMasters/notesMaster1.xml" Id="R36812c06921048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aa2559323400e" /><Relationship Type="http://schemas.openxmlformats.org/officeDocument/2006/relationships/notesMaster" Target="/ppt/notesMasters/notesMaster1.xml" Id="R964c24cc65ac42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94015832d14213" /><Relationship Type="http://schemas.openxmlformats.org/officeDocument/2006/relationships/notesMaster" Target="/ppt/notesMasters/notesMaster1.xml" Id="Rca7e734dc7354b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e50b48e3e44e3" /><Relationship Type="http://schemas.openxmlformats.org/officeDocument/2006/relationships/notesMaster" Target="/ppt/notesMasters/notesMaster1.xml" Id="R01355bd60a65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7742510f5b4fe7" /><Relationship Type="http://schemas.openxmlformats.org/officeDocument/2006/relationships/notesMaster" Target="/ppt/notesMasters/notesMaster1.xml" Id="R2b8812cbeef740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802c70cf5f4100" /><Relationship Type="http://schemas.openxmlformats.org/officeDocument/2006/relationships/notesMaster" Target="/ppt/notesMasters/notesMaster1.xml" Id="Rb8fd7c781e2c43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2d09854d834059" /><Relationship Type="http://schemas.openxmlformats.org/officeDocument/2006/relationships/notesMaster" Target="/ppt/notesMasters/notesMaster1.xml" Id="Re720460be7e1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Source: Simulated portfolio assumptions and illustrative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fbb42eea94a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86bd07569e4aa2" /><Relationship Type="http://schemas.openxmlformats.org/officeDocument/2006/relationships/slideLayout" Target="/ppt/slideLayouts/slideLayout1.xml" Id="R428707467b3548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707467b3548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7d6a5d83544e0" /><Relationship Type="http://schemas.openxmlformats.org/officeDocument/2006/relationships/notesSlide" Target="/ppt/notesSlides/notesSlide1.xml" Id="R2bdfaae527394f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7b677e9a4459a" /><Relationship Type="http://schemas.openxmlformats.org/officeDocument/2006/relationships/notesSlide" Target="/ppt/notesSlides/notesSlide2.xml" Id="R1ebee191cc1c48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52842bde449d3" /><Relationship Type="http://schemas.openxmlformats.org/officeDocument/2006/relationships/notesSlide" Target="/ppt/notesSlides/notesSlide3.xml" Id="R288518de5be247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5d265c28b47e0" /><Relationship Type="http://schemas.openxmlformats.org/officeDocument/2006/relationships/notesSlide" Target="/ppt/notesSlides/notesSlide4.xml" Id="R6b272693e6f64f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58b4a0c644aeb" /><Relationship Type="http://schemas.openxmlformats.org/officeDocument/2006/relationships/notesSlide" Target="/ppt/notesSlides/notesSlide5.xml" Id="Rcfa930af13de41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9825bda2400b" /><Relationship Type="http://schemas.openxmlformats.org/officeDocument/2006/relationships/notesSlide" Target="/ppt/notesSlides/notesSlide6.xml" Id="R095a06efcc03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4ff88d842467d" /><Relationship Type="http://schemas.openxmlformats.org/officeDocument/2006/relationships/notesSlide" Target="/ppt/notesSlides/notesSlide7.xml" Id="R4bb9c56c80a94b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839c43c97458c" /><Relationship Type="http://schemas.openxmlformats.org/officeDocument/2006/relationships/chart" Target="/ppt/slides/charts/chart1.xml" Id="Rbef2a01306b84d78" /><Relationship Type="http://schemas.openxmlformats.org/officeDocument/2006/relationships/notesSlide" Target="/ppt/notesSlides/notesSlide8.xml" Id="R3921e327e853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e2c8487794699" /><Relationship Type="http://schemas.openxmlformats.org/officeDocument/2006/relationships/notesSlide" Target="/ppt/notesSlides/notesSlide9.xml" Id="Ref5326ca550a4e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c2e753593438b" /><Relationship Type="http://schemas.openxmlformats.org/officeDocument/2006/relationships/notesSlide" Target="/ppt/notesSlides/notesSlide10.xml" Id="R4f392b282a8f4e3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Requests</c:v>
          </c:tx>
          <c:spPr>
            <a:solidFill xmlns:a="http://schemas.openxmlformats.org/drawingml/2006/main">
              <a:srgbClr val="0B7285"/>
            </a:solidFill>
          </c:spPr>
          <c:cat>
            <c:strLit>
              <c:ptCount val="5"/>
              <c:pt idx="0">
                <c:v>Integration setup</c:v>
              </c:pt>
              <c:pt idx="1">
                <c:v>Access / permissions</c:v>
              </c:pt>
              <c:pt idx="2">
                <c:v>Billing / renewal</c:v>
              </c:pt>
              <c:pt idx="3">
                <c:v>Reporting / export</c:v>
              </c:pt>
              <c:pt idx="4">
                <c:v>Performance / availability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4</c:v>
              </c:pt>
              <c:pt idx="2">
                <c:v>4</c:v>
              </c:pt>
              <c:pt idx="3">
                <c:v>4</c:v>
              </c:pt>
              <c:pt idx="4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4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141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2B729-68B9-4CAC-BD51-C10A407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1FC33-3C1B-44A4-BA2E-5444916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ADA682A-C1DE-4BBF-A81B-CA109FE2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SIMULATED PORTFOLIO PROJECT #2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35CFFEF-78B2-4B73-910D-589027B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953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5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 Success Operations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5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&amp; Service Recovery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E6BB4-5106-4037-972D-71B4517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2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4919B-537D-4A9E-B656-1341C81E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 scalable request-management model for Asterline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8ADBF-3EC6-49EE-90ED-A8F66DA6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Fictional growing B2B workflow SaaS company | ~5,000 customers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9FFBB-F1BA-4AE3-86C0-B93A5366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Prepared by Kelsi Gooden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Operations Coordinator / Analyst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9BF93-25DD-40B6-99B1-269020E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C51980E-6F2B-41C4-953B-75E5A14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65904DC-A9B8-48C3-91B9-B2FB3A8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9400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3A7C5C-E32B-4E90-B6BE-81D6471F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One system turns fragmented requests into accountable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1915A-D314-4589-B542-F907326B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85F7-02F3-4460-B251-18069FB9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CURRENT CHALLENGE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A8F66-D1A8-472E-B137-EBBAC74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Five intake channels create inconsistent prioritization, unclear ownership, manual follow-up, and limited visibility into recurring customer issues.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5D18A-34EC-468D-976F-EF589733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PROPOSED OPERATING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22105-B8F8-48CA-9D58-9CFF69B3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0B843-A881-4465-BCF6-F1CF764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One intake record with a standard issue taxonomy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B1E42-94FF-4DFB-990E-34EFCA85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EA9A3-5662-4E6D-926B-8A072942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P1–P4 priority rules, named owners, and service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C8DE8-4A5C-41C9-8B5E-5ED201A7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5869E-88ED-4F74-AA4B-584BA40A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Consistent escalation, recovery, closure, and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987B6-ADD3-4FB4-B3AA-8605A777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8EBE1-1FF9-4D59-8082-4A10A63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A leadership dashboard and Voice of Customer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A1BC4-4AB9-40B8-B959-5859CD5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DAY-90 PROPOSED SUCCESS MARKERS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4B613-2257-4742-9522-172CAC2F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84E3A-BD0E-47DA-8DA4-B9557B3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335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requests carry an owner and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767EE-EF81-41EB-B05D-DF066B8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9825"/>
            <a:ext cx="492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99F56-C309-410D-9102-6EB5EADD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4E339-B36D-4CE9-9050-23DA7A9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overall SLA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E772E-04CC-4641-ABBA-2AC8396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492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2A6CA-8A3C-49E8-BF71-1209FD8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AD95A-AB0D-4C21-90F4-9ED8124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004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P1/P2 update compliance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4AE0B-647C-4B67-8E4A-6FC0C9B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6675"/>
            <a:ext cx="492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81B54-A603-4614-A401-B46C8995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86225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&lt;10%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6262C-7819-4A50-9E08-5A1CF1C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338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repeat issue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3C911-FD3C-4C6D-BFF0-D822ACB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4924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B0FA89-F0D6-42BB-9CDD-86CFA5F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≥4.5/5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F1602-5974-4C1C-A345-C33F16F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672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 satisfaction (CSAT)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CF0C82-9015-426E-A82C-193602A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95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Targets are proposed—not achieved results.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ED91D-B41A-4D60-A9FF-FF3AA0C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005F822F-9BC0-4A37-9CB8-E8952AF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0A3968-4264-4315-8983-961B2E61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333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9B8188-04DB-461F-A17D-0032BB4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The current process loses control at each handoff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328E93-505C-426A-8954-824E734B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Illustrative current state across email, support, chat, account managers, and CSMs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A2A61-492E-474A-AF3D-0290501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DFDB4-9391-4EDC-A0B5-DDAE934A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94033-C865-45D1-B31F-71B87410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AC865-D053-488C-8258-B674A1C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47235-1BD2-402B-9029-78DE3699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DD316-3231-4532-A17F-C04AB67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66925"/>
            <a:ext cx="114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1A15C-0238-48BE-A14A-9543CAA3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C298-3F07-41B9-93D9-7AE3DB0A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39C6A-D4F6-4508-AA04-E242FE19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Multiple channels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DC4DA-5FB4-4BAF-ACD7-437DF0AC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C4145-2AAE-4A3E-88F0-6556F654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40B84-5BA5-4DAB-B093-717BC1A8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received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97D6A-6295-4D4D-860C-DCB956DB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No single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844A4-C591-411C-AC4A-BB74178E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75761-779B-486E-8454-F7343D22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1E741-F6FC-4006-AC76-7596909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assigned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4B4C-DCB4-454D-B1A0-280C658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Owner unclear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2C262-50A4-4A48-BBFC-B13DD9C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12DD7-6393-41AF-953A-89331AE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8BE2B-AD61-4D02-B1AE-57EB803C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Investigation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8E6BD-54B1-4BEC-97CE-B9FFD5A3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Priority varies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A73E4-4BB4-409F-982D-7F5B4F1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00677-CB12-4654-BB58-B4E3D8D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DED71-3BF8-4010-8E9D-099F95B7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C5169-47DC-4CB9-8BC9-ACF939EB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Updates ad hoc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679E5-91B0-44A5-8331-7F8113E4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0E157-B20B-408B-9C7D-2BB069A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AC7C2-125C-4996-AE4E-5C1D0E59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B98928-7AD9-4E98-82FC-4AF7E0EC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CSM tracks manually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8797D-D6F4-4659-825B-1C505DBF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66875"/>
            <a:ext cx="14478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13B748-0D37-49CB-BE63-4DBE1341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666875"/>
            <a:ext cx="1447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31BBCB-A25D-42A6-B7BA-A6BB691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38325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4C9C8-7D1F-4512-A49A-B476076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241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Data incomplete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1A1409-C546-4B41-A373-BF3C0CFC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WHERE THE PROCESS BREAKS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A0268D-513B-4651-8E12-1848A5C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4C4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893BAC-7342-4EA8-AC5C-6CDCAF83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9C7DC0-01E3-4818-9C74-EB2BAE1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Urgency depends on who receives the request.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D9C147-5B99-42E1-ABD3-DFF3A528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29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4C4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07DDD5-47DC-42E6-9E8B-1B466CF4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C6D54C-8D17-462E-B768-676A639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814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Handoffs occur without an accountable next owner.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234DA7-283A-403C-BBBB-1A4AEE02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08FB50-8866-4B8E-846B-638156DE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B1BC2-2185-439D-BE74-C96B1ECB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Customers receive uneven updates and follow-up.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0A00AC-45CE-4EC4-A088-BECE12F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290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04B747-DDB8-4821-A4EF-8D31562A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B7A5FA-E6EF-43ED-BA45-7B3121E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814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Root cause, SLA, and repeat issues are not consistently captured.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C6851C-72E1-4580-AE1A-E38136D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4520B2-9292-440B-8906-66E8D208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Customer risk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BD75BF-7FA5-44F4-8517-AA62F22D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10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High-impact customers can wait too long.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7578FE-59C7-4DE1-9AE8-8DE5051C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721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ED3537-C6DB-4703-9549-83605BE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10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Business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64AA1B-773A-40D7-8126-D52FA5E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Manual rework, hidden workload, and avoidable retention risk.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AB9588-A8D1-4233-9FCF-6E5BEB24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5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5631278-CA42-4963-8DBB-5D549AD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5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D5DC44-A0BC-497F-9CD7-F789CE2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7718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10A1D-483B-4C11-81C6-AFA12009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The future state creates one control point and a 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0495A-E0AC-4880-85E8-69EDD67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4C4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C4C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653DA-8640-430E-A311-AC121B23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743075"/>
            <a:ext cx="2857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BB698-60DA-4643-90F6-E03E77BF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43075"/>
            <a:ext cx="2857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4D575-56F7-4BCB-9358-B38692F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43075"/>
            <a:ext cx="2857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C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1BCC6-D8FF-4627-AAF1-B426487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33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920F-9FD2-4562-A5DD-213B496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Five channels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75FC6-2BC5-423D-AA52-FB93E972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66850"/>
            <a:ext cx="2333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DC70B-0CA4-4F1C-A30D-C067CF61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76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Manual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7987F-C31B-49BF-809E-FA282924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2333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0F8DE-A28B-4A70-B24D-02DC4483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Untracked follow-up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0AD82-E85D-4381-8DB5-770BE99D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466850"/>
            <a:ext cx="2333625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2934C-11E8-4E0A-8A29-73557C7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6764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Ad hoc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0878A-28D7-435F-B953-39E5C45A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FUTURE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F9749-6628-48C3-AF02-A95DA7F1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9925"/>
            <a:ext cx="1714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EA5812-3477-43D2-B537-5D7A7CCC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09925"/>
            <a:ext cx="1714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B2DA7-3BDA-4239-899F-F45605A7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09925"/>
            <a:ext cx="1714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9C058-0BFD-4B20-BEAD-A8AFFD7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9925"/>
            <a:ext cx="1714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CA9AF-5DAF-43C0-88E1-03CC1ABC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52850"/>
            <a:ext cx="17145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9653E-5D76-48CD-ADC8-2AD1DB3F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00575"/>
            <a:ext cx="1714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4F9F3-ABFA-42A7-8222-38CC817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00575"/>
            <a:ext cx="1714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F423E-779F-4274-9699-75B72C8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00575"/>
            <a:ext cx="1714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1D13F-DFEB-47BA-8B9D-9781885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00575"/>
            <a:ext cx="1714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DCE43-174A-48AA-98D1-CA98013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BB663-13BF-42B7-BA7E-7568083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1  Customer request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C88C8-85C8-4D76-8D7F-8B83E6E6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052A7-E29C-4CE0-A8EE-18E9CCF4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CC51D-8F81-4C0D-9F64-33194DB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622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2  Intake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AA0F8-65ED-48AE-8FB2-176975CE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Support /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13DD2-2885-4CDC-85F4-872C339A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66140-CC6C-40B1-91B9-5A6F5A1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622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3  Categorize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51FC3-D334-4E8E-938F-912F897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Customer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B9CD1-7C40-45C5-843C-FE4BA04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3845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7C37EF-E824-422D-A5D5-3CE3CB6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622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4  Assign priority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F76F9-2DE0-4C36-9A20-13ADAABB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Support + 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8FF297-E404-4806-8412-D75CB645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3845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2319D7-9D44-4488-90F0-86693AA6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622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5  Assign owner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14793C-7CF3-46C5-A715-7089625A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Operations routing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10F6D3-056E-4D2D-AB7C-09B12E5B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F2F554-ACD9-4517-9462-7257B0D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10  Reporting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C8176-4124-4E01-8367-49C6D9D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22A62E-E247-4F9A-B07B-005F868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5A9762-3D26-442D-8C44-1D174B1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529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9  Close + feedback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92F40D-5039-4891-860F-C2EA74B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57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Support / CSM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6003EF-5328-4F91-A45B-D5557F3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2910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7F34E5-AA9B-494A-BE70-FDDA9B5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529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8  Quality check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2DBA73-A3FE-4854-A653-0CE541A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57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Owner / CSM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28EAD1-2959-4B15-BAAE-11380FE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729264-89D5-42B6-A0B0-ACDB122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529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7  Customer updates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D84096-EAA2-477A-B5E1-555B0D5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57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CSM or 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C67114-D40E-4D32-AF35-324DFCFC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29100"/>
            <a:ext cx="20574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8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761A46-5784-4519-BCB1-F81C7167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529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6  Resolution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AAE742-7F86-4D11-9E2C-979AB302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57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Support / Eng / Product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2462A5-162F-4091-9FCE-693BD60B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WHY IT WORKS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1D1353-484B-4D51-BF02-E1517E3C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1497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One record  •  impact-based priority  •  visible deadline  •  proactive updates  •  issue data feeds improvement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34D1DD-EAF3-4342-8100-9ABA2C77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5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B550D69-16D8-45C3-AA7E-18C73D5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5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FAAE09F-3A25-44F9-B3F0-3114E72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2037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EA3386-1E86-42AB-A22E-794CDCAE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Priority sets speed, ownership, and communication cadence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B65D22-32A0-4A6B-9E79-D7386B5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Proposed service levels • Business hours unless the issue is P1 critical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1657350"/>
                <a:gridCol w="1943100"/>
                <a:gridCol w="1790700"/>
                <a:gridCol w="2286000"/>
                <a:gridCol w="2476500"/>
              </a:tblGrid>
              <a:tr h="476250"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 + assignment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Resolution target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updates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Responsible team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Escalation trigger</a:t>
                      </a:r>
                    </a:p>
                  </a:txBody>
                  <a:tcPr marL="91440" marR="91440" marT="45720" marB="45720" anchor="ctr">
                    <a:solidFill>
                      <a:srgbClr val="101418"/>
                    </a:solidFill>
                  </a:tcPr>
                </a:tc>
              </a:tr>
              <a:tr h="895350"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C84C4C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C84C4C"/>
                          </a:solidFill>
                          <a:latin typeface="Arial"/>
                          <a:ea typeface="Arial"/>
                          <a:cs typeface="Arial"/>
                        </a:rPr>
                        <a:t>Critical</a:t>
                      </a:r>
                    </a:p>
                  </a:txBody>
                  <a:tcPr marL="91440" marR="91440" marT="45720" marB="45720" anchor="ctr">
                    <a:solidFill>
                      <a:srgbClr val="FBE9E9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≤15 minutes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Restore service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≤4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Every 30 minutes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Support lead + incident manager; Engineering joins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Immediate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C48616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C48616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91440" marR="91440" marT="45720" marB="45720" anchor="ctr">
                    <a:solidFill>
                      <a:srgbClr val="FFF2D9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≤1 business hour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Resolve or action plan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≤1 business day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Every 4 business hours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Support / CSM; Product or Engineering as needed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Breach risk or account-health concern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</a:tr>
              <a:tr h="895350"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064E5B"/>
                          </a:solidFill>
                          <a:latin typeface="Arial"/>
                          <a:ea typeface="Arial"/>
                          <a:cs typeface="Arial"/>
                        </a:rPr>
                        <a:t>P3</a:t>
                      </a:r>
                    </a:p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064E5B"/>
                          </a:solidFill>
                          <a:latin typeface="Arial"/>
                          <a:ea typeface="Arial"/>
                          <a:cs typeface="Arial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solidFill>
                      <a:srgbClr val="E8F6FA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≤4 business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≤3 business days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Daily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Support or CS queue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Missed due date or repeat issue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P4</a:t>
                      </a:r>
                    </a:p>
                    <a:p>
                      <a:pPr algn="ctr">
                        <a:lnSpc>
                          <a:spcPct val="103000"/>
                        </a:lnSpc>
                        <a:buNone/>
                      </a:pPr>
                      <a:r>
                        <a:rPr sz="1200" b="1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Low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≤1 business day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Disposition</a:t>
                      </a:r>
                    </a:p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≤5 business days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Every 3 business days or milestone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Support / Product Operations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  <a:tc>
                  <a:txBody>
                    <a:bodyPr lIns="76200" tIns="66675" rIns="76200" bIns="66675">
                      <a:normAutofit/>
                    </a:bodyPr>
                    <a:lstStyle/>
                    <a:p>
                      <a:pPr algn="l">
                        <a:lnSpc>
                          <a:spcPct val="103000"/>
                        </a:lnSpc>
                        <a:buNone/>
                      </a:pPr>
                      <a:r>
                        <a:rPr sz="1200" b="0">
                          <a:solidFill>
                            <a:srgbClr val="101418"/>
                          </a:solidFill>
                          <a:latin typeface="Arial"/>
                          <a:ea typeface="Arial"/>
                          <a:cs typeface="Arial"/>
                        </a:rPr>
                        <a:t>Scope or priority review</a:t>
                      </a:r>
                    </a:p>
                  </a:txBody>
                  <a:tcPr marL="91440" marR="91440" marT="45720" marB="45720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78120-EE14-4737-A887-456EB8B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11277600" cy="419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6C2D2-5786-447E-9649-C11BE5E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Classification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760DB-B979-4C99-90FC-1ACD86D5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197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 tier shapes the communication plan; severity and impact determine priority.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3A931-2896-4B11-98B0-33DF4C7A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371C6D8-DDB2-40C6-81F0-78EA51D1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ABC887-A407-4D1E-A9A2-7A100F4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887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F3937D-5F39-4FB2-A117-8C881E2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Escalate on impact—and recover trust with visible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149E0-7851-4DA3-9D0E-5F9EB9A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3009900" cy="3028950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41020-6626-495C-A991-9B3E67C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ESCALATION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E294A-19CF-4C09-9F82-08EE9A64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9C45D-6E2A-48B8-9D88-2D5E2020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P1 customer or business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9DD8F-808C-4196-B4BD-505E5D6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52533-22AB-4C5B-919F-83A6AE6A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P2 account-health or strategic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28138-2416-48AA-A40F-9A89368E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289CB-FC03-4070-ACD5-3208FD9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SLA breach or missed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D24D8-55F3-4F2A-8C8F-8E7DE75B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E52F9-2CA5-4125-88B4-C0C352DE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Repeat issue or failed prior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FBB92-C4E1-4E22-B745-CB81711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416C8-7252-4AD2-B195-D8D36DF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400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Security, privacy, billing, or reputation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98F3D-E9A4-4800-8C01-022E7FC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57300"/>
            <a:ext cx="795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ESCALATION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22983-66D5-4431-A35D-65F1523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717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336505-0A12-40FA-B8F3-7EF93AB7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717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2009C-686A-4E6F-AAD5-09FAFD8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71700"/>
            <a:ext cx="171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6D8C1-7128-4712-9DA6-1096329A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7526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BE9E9"/>
          </a:solidFill>
          <a:ln xmlns:a="http://schemas.openxmlformats.org/drawingml/2006/main" w="9525">
            <a:solidFill>
              <a:srgbClr val="C84C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A28B7-5162-428C-A655-BF5BD12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19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1  Trigger + notify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9387F-A8C6-4A36-9C2D-BEF84DD6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CS / Support → 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C791A-1297-49E9-835B-0D474803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17526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D2265-39CA-4EEE-BBA5-6B5D5629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19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2  Investigate cause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41339-EF1C-4A29-91C9-8AC471F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Owner + resolver team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0C554-12E4-4865-8F87-56FD0D3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95450"/>
            <a:ext cx="17526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0730E-6A45-46BA-837F-769F8622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19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3  Plan + communicate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AF632-29EC-42CE-B408-71069F8C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Owner + CSM /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2E21D-B14A-4E43-A6D6-EB0755EF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95450"/>
            <a:ext cx="17526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AF179-7DC3-4E8D-AF76-6432413D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19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4  Verify +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5D294-430A-4406-B4D9-52261F5C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64E5B"/>
                </a:solidFill>
                <a:latin typeface="Arial"/>
                <a:ea typeface="Arial"/>
                <a:cs typeface="Arial"/>
              </a:rPr>
              <a:t>QC, follow-up,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B7EEC8-7660-4AD8-B9B1-A0AC7D8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43225"/>
            <a:ext cx="7953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Issue identified → escalation triggered → manager notified → root cause investigated → resolution plan → customer communication → follow-up → closure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CE5E7-E64B-4A46-A543-19B6FCF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SERVICE 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BF8D43-5D06-4379-A226-1127CD1E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30A55A-91BD-4686-92CA-A0CAC303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ACKNOWLEDGE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079641-A45C-41D8-874B-0B08466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Own the impact and apologize plainly.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42670C-36AB-4790-B73B-FC071C98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911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97EB5-FA62-42CD-9294-ED561AAB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00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4112B-0596-40BD-865E-47892CB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72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STABILIZE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F878B4-BF1D-4AC9-8037-7C705D3C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05425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Set an owner, plan, and next update time.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EB0BCC-C560-4548-B56F-305DBA7A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911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1C3AB6-518F-4E2B-9D25-FADE8EE3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00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232F01-BAF9-4913-B4A0-B6C9E68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72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463AAB-69ED-4880-B870-F2B5948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05425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Confirm the fix and offer a proportionate remedy.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E9B82A-82C6-4BBC-B9FB-1475E927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9110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7919C0-F88B-4442-825B-7033597E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00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1E313C-607A-4F93-9023-DFD68B9B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6F918E-BA60-45A9-A460-01142CD1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05425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Log cause, action, and prevention owner.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A42693-B11F-4F6A-8BC9-C81B4910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4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C1529C1-9B30-4140-B4BB-BFF7B20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4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30E400C-5E3F-4C11-8E81-E17F141A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4676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9633F-DAF5-420A-959F-D17172A7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 compact scorecard separates outcomes from operating signals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E6CA25-6344-477D-8116-B75A02CA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Targets are proposed; baseline values below are illustrative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2401-60BD-4F65-A9BE-9C72E5C2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96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DAY-90 PROPOSED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D0D3D-FADA-4A46-8D84-7F04F4EE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9BB42-72FA-4609-A0C8-30AA5D55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Owner + 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292A8-FC91-424A-906C-5D087EB0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09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789F4-5FF9-473D-A9CB-EE2B5CD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621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70664-F649-41EC-88C8-C731144F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43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SLA compliance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7118D-D238-4EF4-9FE6-984B509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09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F660-11C3-46C4-99E9-3F2BCCC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621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≥95%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F1F5E-07BD-47C0-A9E1-B3BE3F6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43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P1/P2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00A5F-167C-454B-93BD-D2A401A7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09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AA15C-9C6D-4600-8BB4-FFAC44B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621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&lt;10%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04CD1-F49C-4D42-9E1C-7D678308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Repeat issues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61B3D-3780-4C6C-AB83-B6CFAF0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9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155D1-0D68-4014-8753-277621C3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621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≥4.5/5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0923B-CA8F-4782-A016-33A490A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CSAT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A0DD9-D556-4E36-8C9C-95E8187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11277600" cy="310515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35D01-16F5-4729-94EE-BCD3299F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DIAGNOSTIC OPERATING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7B899-BCC7-4B84-80B3-1003886C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Illustrative baseline assumptions—not measured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05CA5-491E-4273-AE6C-12E6FEA0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C8517-6F1A-4A6B-9615-D73B4135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24460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First response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8AB6C-E402-4076-B890-5BF375F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3562350"/>
            <a:ext cx="1528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Triage capacity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CB313-A47A-4EB3-A59C-8711B772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3533775"/>
            <a:ext cx="11210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6.2h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929FD-A832-4D17-9C19-B16B024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7034A-4EE9-47D9-B603-E46FB92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4460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Average resolution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EA08B-D9E6-47AA-A8D5-943B1E6B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4171950"/>
            <a:ext cx="1528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Delivery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52C11D-3CB8-4F58-9E5E-224AF2EE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4143375"/>
            <a:ext cx="11210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2.4d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B0B82B-AE14-48A8-AD01-CB408AF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E8C4F-7546-44F4-B6C4-80AB7E13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24460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Open customer issues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09C08-0BF7-42E6-95D5-B023339E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4781550"/>
            <a:ext cx="1528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Backlog + 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8C1DB-EF56-4646-BCF7-A6C36C56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533" y="4752975"/>
            <a:ext cx="11210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146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647AF-D4A4-4AC9-BAAF-1467A4F0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901CCA-D7E5-4DC2-A103-EC59E5CE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52825"/>
            <a:ext cx="24460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Escalation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164B2-E311-48B0-A9D5-7CCCFE1C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3562350"/>
            <a:ext cx="1528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Recovery load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8006C-28E3-4C7A-AC0E-2E75493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333" y="3533775"/>
            <a:ext cx="11210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EDF9D6-E009-4258-BBD9-8E06896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6E27C-CBFA-4249-9230-44E6568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62425"/>
            <a:ext cx="24460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 retention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353361-ECE7-4F9D-80C1-47B39998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0" y="4171950"/>
            <a:ext cx="152876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644A9-455C-42A3-98AF-F40ACD59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333" y="4143375"/>
            <a:ext cx="112109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65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92%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321734-86F2-49A7-96FB-E7AB0BC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Review weekly by priority, account tier, issue category, owner, and 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31E5F4-1068-44B5-B0C5-0DF0924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530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Action rule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39546A-9CC9-49E3-A76B-876EBE2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530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If a KPI declines, segment the data, name an owner, and test one corrective action.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FB76C-D4A8-4953-B12D-D60C0B1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4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56CA2E3-B633-4811-9EF7-1998834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4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F9C2AB-713F-461B-9395-F689D74F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388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864192-1FAF-42CC-8C1B-1B1C3BBC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Recurring issues should become an improvement backlog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640897-A351-40B1-81F7-654A5DD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Illustrative sample: 20 fictional customer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7F101-F928-4E6B-BD02-8008715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RECURRING ISSUE THEMES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f2a01306b84d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DAD98-1D3C-42A6-A185-39A974D0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381125"/>
            <a:ext cx="0" cy="449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CDD7D-9621-4A5C-837E-A3B0585B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04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PRIORITY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443BC-DC79-47EF-9494-980312B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24025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7A94E-8468-49B5-8B94-D74A207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16E4-069A-483E-A51E-41D46DD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9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9470F-95BC-4DC9-88F1-C2690A3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24025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66A58-592C-4143-83DD-00D1AA64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99A0D-988F-4540-83DB-DA9CFD0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BB217-0B12-4653-BE1E-432C9AE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24025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DEC57-3403-4A9F-B8DB-CB51EEEE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764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2ACC2-0B82-4CC4-A9DB-90D56E5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09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3C5E3-B9C6-426A-BE50-0A80796A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24025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E62EA-4768-44C3-AEB5-923EDF1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764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6357F-5301-4E70-82B9-C03636D8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09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D3AF7-8E33-4151-8E3F-B11F8B2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1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VOICE OF CUSTOMER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671AC-3ECB-40CD-9E09-C784FEA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09C91-FB6F-4EAD-833D-06CFD46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1957D-3571-4A33-8AF3-AB8ABD10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670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9F232-7545-4D9C-9E6A-33C70086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00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88ED4-0B36-4D5E-80D1-F8BF2B0C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0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Categorize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E838F8-E475-40BE-9BBA-5BA8087B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223A3-13C8-4975-A42A-442E3CF5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71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EF0F4-E381-4931-B845-5F26FC6A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71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Trend 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23FC0-A519-4D8E-B4C9-A4D78666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00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24570-A820-4754-8572-C727EAE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43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A167D-9A6C-478A-AB24-A3F21A3A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4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Business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184BB-3849-4414-8B53-F5EDF303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815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83DC9-0D45-4FDF-AEB8-9C50ACB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14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FAEDF-538D-4416-82D3-5F7436B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14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Improvement initiative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5413A0-B1FF-46ED-9153-59B251F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529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10EF8B-9FF9-4BD3-958E-983236D3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86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C2CF90-7270-4D3A-AAE3-85A5BA96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863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52EA0E-BF02-4717-AF71-5588E12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AB0FD1-A035-4DD9-9A27-DF74EEB5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57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B72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72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C79EE0-4F2E-43E0-849C-50A1800B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B734FA-7B3D-4082-80A8-853E95FB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619125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EBF448-0D57-46DD-AD2F-1B2C4EAB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5D9E9F-AFC2-43E9-8774-BE0527F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14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Prioritize by volume + severity + repeat rate—not volume alone.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ED9879-2676-451C-BDD8-0B83D6CB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4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129E4211-69B8-4150-96D6-BE6006F5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4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B0C582-69A9-4DBB-A2BC-1980E36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2301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08218-8B0B-4030-893F-0B4B17F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 90-day rollout builds control before optimization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859093-D09D-4BD5-8860-B2E58EE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Proposed roadmap • Success measures are targets, not achieved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0385D-9E41-4660-A988-64D8B5C6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335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CC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96483-F6B1-4BB8-AEFA-92EB03A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757ED-04A2-4D72-A613-DFE53330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57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7D845-7AF7-44C4-A149-4232460F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57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B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91BB6-FA30-4DEC-8436-3D42F945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DAYS 1–30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A2912-60E0-4CCA-8444-35BE15AB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14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Analyze &amp; standardize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74F27-CE55-4DA3-87A3-FCEDE8F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9CF93-D738-41E8-92B3-D4BDBF54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D0404-2BF3-49D3-B9F6-49AFCC1D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Channel inventory; baseline metrics; taxonomy; priority/SLA definitions; tracker 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BE45-20F3-43B6-ADAE-87D62A5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5EA6E-D6F6-4EBE-96E6-E4A2692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Operations coordinator + Support lead + CS 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BC5A8-6632-4C54-A90B-39BBBCB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SUCCESS 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C5F96-AA22-4D80-A8B0-C5A04F5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Baseline approved; ≥95% sample categorized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77806-DF63-4576-8B77-23088FA6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6692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A0113-683E-4755-A65E-C923C4F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716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DAYS 31–60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06B92-CCDD-42DB-A844-AAA4C8F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14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Implement &amp; train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7CEE2-8010-4E12-90F8-90A25B6C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289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65280-6BD5-4DD5-A475-2FA30063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384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D8DAD-ED26-456B-8F08-51F33281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432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Workflow rules; alerts; templates; SOP; dashboard v1; pilot training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1557E-1580-41FF-98E1-A4955B0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100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DAC19-37A0-4D2F-8815-32749A0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148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Operations + CS/Support managers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CB821-6AC9-4546-98BA-721BDF35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57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SUCCESS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12B8E-70AA-4307-99EC-65E74A3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626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100% trained; ≥90% pilot records owned + prioritized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5ACAA-8C4D-4136-B204-96C8254F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6692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03E4D-EE68-4BA2-828F-CB3A3997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716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DAYS 61–90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4445D-0711-4084-81FA-EF46306D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14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Measure &amp; optimize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C350D-220B-4076-AB7B-B1D389FF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289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97D0B-3C1F-4EB0-BC1C-B04B2648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384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ECAC0-AC4A-4FE1-8981-11BAD20C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432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Weekly reviews; root-cause backlog; VoC council; dashboard v2; refinements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F2D70-817B-407F-8E79-5F704ED4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00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OWNERS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A9D6CF-6410-4EAF-9B35-20569FB1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148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Operations + Product + CS leadership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A8627-4659-44DC-8F89-79BC9E8F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6616F"/>
                </a:solidFill>
                <a:latin typeface="Arial"/>
                <a:ea typeface="Arial"/>
                <a:cs typeface="Arial"/>
              </a:rPr>
              <a:t>SUCCESS MEASURE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022C7C-539D-452A-82F0-EAE31B9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Day-90 target band met (see scorecard)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B38861-A937-45F8-94E8-4F72EA3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B2268B07-1192-4D75-AF92-80BB8A60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3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E6CFCE-EA3E-4E8A-84E6-FE887F6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0864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24F509-0F72-4755-BC47-A2E6D9A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Customer experience becomes an operating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DEDA9-AD52-4FA8-8D33-6C5CC4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EXPECTED IMPACT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6EEE3-8CE5-482D-B688-33B2D2C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85975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34975-9853-40E0-B2E8-F2D86495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85975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EFB48-0EE5-4369-9106-D1D7305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85975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18560-17A0-4E1B-992C-F21E5BD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224790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9E784-E7D2-4614-8561-6737F385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0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Standardize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D74BD-C1DD-40ED-9330-4A7D0F3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One record, taxonomy,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09DA9-B08C-4CC4-BE92-D945F5B5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28775"/>
            <a:ext cx="224790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89A8C-9C88-4D60-BA0C-75F9554E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0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Create accountability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BF615-7A04-485F-9327-2CCDE184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Owner, deadline, update cadence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A3649-268E-431A-9055-FBA4F708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28775"/>
            <a:ext cx="224790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BF72F-BD12-402A-ADD0-B3859A0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0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Recover consistently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B1CAF-ECAD-4523-AD3E-E144AFED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Escalation, plan,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46B09-FCB2-4E80-A1B4-71CCAAE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28775"/>
            <a:ext cx="2247900" cy="10858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8F6FA"/>
          </a:solidFill>
          <a:ln xmlns:a="http://schemas.openxmlformats.org/drawingml/2006/main" w="9525">
            <a:solidFill>
              <a:srgbClr val="67CB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26D90-23BF-44FD-8605-1A37659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02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418"/>
                </a:solidFill>
                <a:latin typeface="Arial"/>
                <a:ea typeface="Arial"/>
                <a:cs typeface="Arial"/>
              </a:rPr>
              <a:t>Learn and improve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6B350-A8D8-41AB-9A26-A6F50D3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Root cause, trends, action backlog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341F9-0724-4798-B811-239FEDD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6FBA8-1192-4898-811E-ADEE8F7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C2327-CB67-48E5-A2F5-83CC25B3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More predictable updates, faster recovery, and clearer closure.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51622-A6CD-41C5-86D5-34D9B69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4B83E-F509-4309-A24C-A5F0315E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67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TEAMS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9EAA8-0314-47A8-9D72-99E9DA7F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Less manual tracking, fewer ownership gaps, and cleaner handoffs.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5E539-26ED-4CA9-82CB-191228D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728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337005-1712-46A6-8469-46E07FB6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67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64E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4E5B"/>
                </a:solidFill>
                <a:latin typeface="Arial"/>
                <a:ea typeface="Arial"/>
                <a:cs typeface="Arial"/>
              </a:rPr>
              <a:t>LEADERS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24D51-1F02-4465-9168-B8C55B1D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014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418"/>
                </a:solidFill>
                <a:latin typeface="Arial"/>
                <a:ea typeface="Arial"/>
                <a:cs typeface="Arial"/>
              </a:rPr>
              <a:t>Issue trends tied to capacity, process, product, and retention decisions.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253F0-C629-474B-8758-E34EB1BF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1127760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64E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8986B-A098-4ACA-AB73-BC93749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RECOMMENDED NEXT STEP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EF200-660F-4EE3-AA4D-03A1102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a 30-day pilot with one Customer Success segment; validate the taxonomy, SLA rules, and dashboard before scaling.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F9AE46-292A-4F9B-AD5A-BF8333FF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5CCD3"/>
            </a:solidFill>
            <a:prstDash val="solid"/>
          </a:ln>
        </p:spPr>
      </p:sp>
      <p:sp>
        <p:nvSpPr>
          <p:cNvPr id="31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4412D61-FF58-48CF-8239-D0F5530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Simulated portfolio project | Kelsi Gooden</a:t>
            </a:r>
          </a:p>
        </p:txBody>
      </p:sp>
      <p:sp>
        <p:nvSpPr>
          <p:cNvPr id="3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CFD44E-35CD-4D13-84F4-67B6895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56616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61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8964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2026-08-13T00:32:01.9800000Z</dcterms:created>
  <dcterms:modified xsi:type="dcterms:W3CDTF">2026-08-13T00:32:01.9800000Z</dcterms:modified>
</coreProperties>
</file>