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f8u1vAfHYTS2QOBf/5ZYiMosw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Open by framing this as a portfolio case: the operating system is designed, not presented as a real-world result.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Emphasize the difference between an assumed baseline and the proposed operating targets. The value is the logic that connects the problem to a measurable system.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Walk left to right through the current-state workflow, then connect each bottleneck to a downstream effect: callbacks, queue aging, or repeat contact.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Explain that every improvement adds a control: complete data, consistent priority, deliberate assignment, evidence, communication, or QA. Service levels are proposed internal targets for the fictional property.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Use the highlighted row to explain the Operations Coordinator role: not the technical expert or budget approver, but the owner of queue control, handoffs, communication and reporting.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emergency path prioritizes life safety and containment. The $1,500 amount is an illustrative property policy threshold, not a legal standard.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Focus on how each metric changes a management action: response and completion manage speed; open and past-due work manage queue health; satisfaction tests service quality; emergency, vendor and preventive metrics manage specialized risk.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9" name="Google Shape;25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Present the recommendations as a control stack: clean input, consistent priority, deliberate assignment, reliable communication and a recurring management cadence.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34" name="Google Shape;33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The rollout deliberately starts with data and ownership before adding reporting. The bottom strip contains proposed outcome targets for the fictional 90-day pilot.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92" name="Google Shape;39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Close on the operating capability demonstrated: workflow design, SOP ownership, KPI governance and cross-functional implementation.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No external sources; fictional portfolio scenario.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All baseline figures are illustrative assumptions; all future figures are proposed targets.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430" name="Google Shape;43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00050" y="342900"/>
            <a:ext cx="3619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OPERATIONS PORTFOLIO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24700" y="342900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PACIFIC CREST APARTMENTS · LONG BEACH, CA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00050" y="8382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00050" y="1638300"/>
            <a:ext cx="133350" cy="337185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81050" y="1600200"/>
            <a:ext cx="1042035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Maintenance Request</a:t>
            </a:r>
            <a:endParaRPr/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Management System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81050" y="4105275"/>
            <a:ext cx="9810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2025"/>
              <a:buFont typeface="Arial"/>
              <a:buNone/>
            </a:pPr>
            <a:r>
              <a:rPr b="0" lang="en-US" sz="202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 practical operating model for a fictional 200-unit apartment community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81050" y="520065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r>
              <a:rPr b="1" lang="en-US" sz="1725">
                <a:solidFill>
                  <a:srgbClr val="111111"/>
                </a:solidFill>
              </a:rPr>
              <a:t>Kelsi Gooden</a:t>
            </a:r>
            <a:r>
              <a:rPr b="1" lang="en-US" sz="17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, MBA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81050" y="5562600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Operations Coordinator · Property Operations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210550" y="6229350"/>
            <a:ext cx="3581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125"/>
              <a:buFont typeface="Arial"/>
              <a:buNone/>
            </a:pPr>
            <a:r>
              <a:rPr b="1" lang="en-US" sz="112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FICTIONAL PORTFOLIO SCENARIO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00050" y="2286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00050" y="495300"/>
            <a:ext cx="113919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Fragmented intake hides risk and slows service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00050" y="12573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00050" y="1438275"/>
            <a:ext cx="11391900" cy="552450"/>
          </a:xfrm>
          <a:prstGeom prst="rect">
            <a:avLst/>
          </a:prstGeom>
          <a:solidFill>
            <a:srgbClr val="D0E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90550" y="16002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ILLUSTRATIVE BASELINE ASSUMPTIONS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667125" y="1571625"/>
            <a:ext cx="7791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95 req/mo  ·  11.4 h response  ·  5.2 d completion  ·  46 open orders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00050" y="2266950"/>
            <a:ext cx="3695700" cy="32861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28650" y="247650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28650" y="2914650"/>
            <a:ext cx="3238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Business problem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28650" y="3676650"/>
            <a:ext cx="685800" cy="381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28650" y="3905250"/>
            <a:ext cx="323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Requests arrive by phone, email, portal and walk-in. Staff re-enter details, priority is interpreted differently, and residents lack a reliable update path.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248150" y="2266950"/>
            <a:ext cx="3695700" cy="32861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476750" y="247650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476750" y="2914650"/>
            <a:ext cx="3238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476750" y="3676650"/>
            <a:ext cx="685800" cy="381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476750" y="3905250"/>
            <a:ext cx="323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one work-order register, a three-level priority matrix, service clocks, named owners, documented handoffs and resident-confirmed closure.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096250" y="2266950"/>
            <a:ext cx="3695700" cy="3286125"/>
          </a:xfrm>
          <a:prstGeom prst="rect">
            <a:avLst/>
          </a:prstGeom>
          <a:solidFill>
            <a:srgbClr val="D0E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324850" y="247650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324850" y="2914650"/>
            <a:ext cx="3238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48"/>
              <a:buFont typeface="Arial"/>
              <a:buNone/>
            </a:pPr>
            <a:r>
              <a:rPr b="1" lang="en-US" sz="214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Expected business impact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324850" y="3676650"/>
            <a:ext cx="685800" cy="381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324850" y="3905250"/>
            <a:ext cx="3238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Proposed 90-day targets: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≤2 business hours first response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≤3 business days completion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≤20 open orders · ≥4.3/5 satisfaction</a:t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00050" y="59245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Targets define the proposed operating control—not achieved performance.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400050" y="2286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CURRENT STATE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00050" y="495300"/>
            <a:ext cx="113919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Three bottlenecks drive avoidable delay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00050" y="12573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00050" y="1390650"/>
            <a:ext cx="971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Typical workflow before redesign · Multiple channels, manual handoffs and inconsistent closeout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19125" y="1962150"/>
            <a:ext cx="10572750" cy="2857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00050" y="1771650"/>
            <a:ext cx="381000" cy="3810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00050" y="18097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00050" y="2324100"/>
            <a:ext cx="1866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Resident contacts staff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00050" y="2952750"/>
            <a:ext cx="1866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Phone, email, portal or walk-in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2686050" y="1771650"/>
            <a:ext cx="381000" cy="3810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686050" y="18097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686050" y="2324100"/>
            <a:ext cx="1866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Office re-enters request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2686050" y="2952750"/>
            <a:ext cx="1866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454"/>
              <a:buFont typeface="Arial"/>
              <a:buNone/>
            </a:pPr>
            <a:r>
              <a:rPr b="0" lang="en-US" sz="1454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Access and priority details may be missing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972050" y="1771650"/>
            <a:ext cx="381000" cy="3810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972050" y="18097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972050" y="2324100"/>
            <a:ext cx="1866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Supervisor reviews queue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972050" y="2952750"/>
            <a:ext cx="1866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Triage and schedule vary by workload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258050" y="1771650"/>
            <a:ext cx="381000" cy="3810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258050" y="18097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258050" y="2324100"/>
            <a:ext cx="1866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Tech or vendor performs work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258050" y="2952750"/>
            <a:ext cx="1866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Status notes and ETA updates vary</a:t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9544050" y="1771650"/>
            <a:ext cx="381000" cy="3810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9544050" y="18097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544050" y="2324100"/>
            <a:ext cx="18669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Closure is assumed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544050" y="2952750"/>
            <a:ext cx="1866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Resident learns only if staff follow up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00050" y="378142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WHERE WORK STALLS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00050" y="4124325"/>
            <a:ext cx="3695700" cy="15716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00050" y="4124325"/>
            <a:ext cx="66675" cy="157162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28650" y="4333875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Intake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628650" y="4781550"/>
            <a:ext cx="32004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62"/>
              <a:buFont typeface="Arial"/>
              <a:buNone/>
            </a:pPr>
            <a:r>
              <a:rPr b="0" lang="en-US" sz="1562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Duplicate entry and incomplete fields create callbacks before work can be assigned.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248150" y="4124325"/>
            <a:ext cx="3695700" cy="15716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248150" y="4124325"/>
            <a:ext cx="66675" cy="157162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476750" y="4333875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Dispatch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476750" y="4781550"/>
            <a:ext cx="32004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62"/>
              <a:buFont typeface="Arial"/>
              <a:buNone/>
            </a:pPr>
            <a:r>
              <a:rPr b="0" lang="en-US" sz="1562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No shared priority definitions or service clock makes aging risk hard to see.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8096250" y="4124325"/>
            <a:ext cx="3695700" cy="15716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8096250" y="4124325"/>
            <a:ext cx="66675" cy="157162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324850" y="4333875"/>
            <a:ext cx="3143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Closeout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8324850" y="4781550"/>
            <a:ext cx="32004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62"/>
              <a:buFont typeface="Arial"/>
              <a:buNone/>
            </a:pPr>
            <a:r>
              <a:rPr b="0" lang="en-US" sz="1562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Sparse notes and no resident confirmation create repeat contacts and unclear quality.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400050" y="2286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FUTURE STATE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00050" y="495300"/>
            <a:ext cx="113919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Every request moves on a visible clock</a:t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00050" y="12573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00050" y="1381125"/>
            <a:ext cx="9906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One intake-to-close workflow makes priority, ownership, due dates and resident updates visible.</a:t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00050" y="1752600"/>
            <a:ext cx="3695700" cy="1400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00050" y="1752600"/>
            <a:ext cx="57150" cy="140017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09600" y="191452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104900" y="1885950"/>
            <a:ext cx="2724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Capture once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09600" y="2333625"/>
            <a:ext cx="32385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409"/>
              <a:buFont typeface="Arial"/>
              <a:buNone/>
            </a:pPr>
            <a:r>
              <a:rPr b="0" lang="en-US" sz="140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Mandatory unit, contact, access, category and description fields write to one register.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248150" y="1752600"/>
            <a:ext cx="3695700" cy="1400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248150" y="1752600"/>
            <a:ext cx="57150" cy="140017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457700" y="191452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953000" y="1885950"/>
            <a:ext cx="2724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Triage consistently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457700" y="2333625"/>
            <a:ext cx="32385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461"/>
              <a:buFont typeface="Arial"/>
              <a:buNone/>
            </a:pPr>
            <a:r>
              <a:rPr b="0" lang="en-US" sz="1461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Priority matrix flags life safety, active damage, habitability and routine needs.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8096250" y="1752600"/>
            <a:ext cx="3695700" cy="1400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096250" y="1752600"/>
            <a:ext cx="57150" cy="140017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8305800" y="191452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801100" y="1885950"/>
            <a:ext cx="2724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Assign deliberately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8305800" y="2333625"/>
            <a:ext cx="32385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409"/>
              <a:buFont typeface="Arial"/>
              <a:buNone/>
            </a:pPr>
            <a:r>
              <a:rPr b="0" lang="en-US" sz="140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Supervisor routes by skill, load, coverage and vendor need; due date is set at assignment.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00050" y="3343275"/>
            <a:ext cx="3695700" cy="1400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00050" y="3343275"/>
            <a:ext cx="57150" cy="140017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09600" y="350520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104900" y="3476625"/>
            <a:ext cx="2724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Execute visibly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09600" y="3924300"/>
            <a:ext cx="32385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409"/>
              <a:buFont typeface="Arial"/>
              <a:buNone/>
            </a:pPr>
            <a:r>
              <a:rPr b="0" lang="en-US" sz="140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Technician records arrival, diagnosis, work performed, parts, access outcome and next step.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248150" y="3343275"/>
            <a:ext cx="3695700" cy="1400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248150" y="3343275"/>
            <a:ext cx="57150" cy="140017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457700" y="350520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953000" y="3476625"/>
            <a:ext cx="2724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Communicate by event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457700" y="3924300"/>
            <a:ext cx="32385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409"/>
              <a:buFont typeface="Arial"/>
              <a:buNone/>
            </a:pPr>
            <a:r>
              <a:rPr b="0" lang="en-US" sz="140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Resident receives acknowledgment, appointment, delay, completion and daily-open updates.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096250" y="3343275"/>
            <a:ext cx="3695700" cy="1400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096250" y="3343275"/>
            <a:ext cx="57150" cy="140017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8305800" y="3505200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8801100" y="3476625"/>
            <a:ext cx="2724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Close and learn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8305800" y="3924300"/>
            <a:ext cx="32385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409"/>
              <a:buFont typeface="Arial"/>
              <a:buNone/>
            </a:pPr>
            <a:r>
              <a:rPr b="0" lang="en-US" sz="140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Required QA is completed; resident confirms service and receives a short satisfaction survey.</a:t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00050" y="4857750"/>
            <a:ext cx="11391900" cy="1190625"/>
          </a:xfrm>
          <a:prstGeom prst="rect">
            <a:avLst/>
          </a:prstGeom>
          <a:solidFill>
            <a:srgbClr val="D0E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90550" y="5019675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P1 · EMERGENCY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90550" y="5314950"/>
            <a:ext cx="2571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Ack 5m · dispatch 10m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On-site 30m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Stabilize ≤4h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371850" y="5019675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P2 · URGENT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3371850" y="5314950"/>
            <a:ext cx="2571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Ack 30m · assign 60m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Same-day start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Complete or safe temporary ≤24h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153150" y="5019675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P3 · ROUTINE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6153150" y="5314950"/>
            <a:ext cx="2571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Ack 2 business h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Assign 4 business h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Complete ≤3 business days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8934450" y="5019675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P4 · PLANNED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8934450" y="5314950"/>
            <a:ext cx="2571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Ack 1 business day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Schedule ≤3 business days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1"/>
              <a:buFont typeface="Arial"/>
              <a:buNone/>
            </a:pPr>
            <a:r>
              <a:rPr b="1" lang="en-US" sz="1222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Complete in 5–10 business days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/>
          <p:nvPr/>
        </p:nvSpPr>
        <p:spPr>
          <a:xfrm>
            <a:off x="400050" y="2286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OPERATING MODEL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00050" y="495300"/>
            <a:ext cx="113919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Clear ownership prevents handoff failures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00050" y="12573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400050" y="138112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The Operations Coordinator controls the daily queue; functional leaders retain technical, policy and spend authority.</a:t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00050" y="1743075"/>
            <a:ext cx="2000250" cy="4953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514350" y="1819275"/>
            <a:ext cx="1771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2400300" y="1743075"/>
            <a:ext cx="3143250" cy="4953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2514600" y="1819275"/>
            <a:ext cx="2914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Owns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543550" y="1743075"/>
            <a:ext cx="3048000" cy="4953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657850" y="1819275"/>
            <a:ext cx="2819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Handoff standard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8591550" y="1743075"/>
            <a:ext cx="3200400" cy="4953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8705850" y="1819275"/>
            <a:ext cx="2971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Escalates when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00050" y="2238375"/>
            <a:ext cx="20002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04825" y="2305050"/>
            <a:ext cx="1790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Resident / Tenant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2400300" y="2238375"/>
            <a:ext cx="31432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2505075" y="2305050"/>
            <a:ext cx="2933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Submit complete request; provide access and contact preference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5543550" y="2238375"/>
            <a:ext cx="30480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648325" y="2305050"/>
            <a:ext cx="2838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Confirm appointment or offer alternate access window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8591550" y="2238375"/>
            <a:ext cx="32004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696325" y="2305050"/>
            <a:ext cx="29908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Condition worsens, access changes or life-safety risk emerges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00050" y="2962275"/>
            <a:ext cx="200025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504825" y="3028950"/>
            <a:ext cx="1790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Resident Services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400300" y="2962275"/>
            <a:ext cx="314325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2505075" y="3028950"/>
            <a:ext cx="2933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Receive phone/walk-in requests; validate required fields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5543550" y="2962275"/>
            <a:ext cx="304800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5648325" y="3028950"/>
            <a:ext cx="2838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Create one record; never maintain a side list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8591550" y="2962275"/>
            <a:ext cx="320040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696325" y="3028950"/>
            <a:ext cx="29908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Resident distress, relocation need or service recovery concern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00050" y="3686175"/>
            <a:ext cx="2000250" cy="723900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04825" y="3752850"/>
            <a:ext cx="1790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Operations Coordinator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2400300" y="3686175"/>
            <a:ext cx="3143250" cy="723900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2505075" y="3752850"/>
            <a:ext cx="2933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39"/>
              <a:buFont typeface="Arial"/>
              <a:buNone/>
            </a:pPr>
            <a:r>
              <a:rPr b="1" lang="en-US" sz="1439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Triage, due dates, queue hygiene, updates, vendors and dashboard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5543550" y="3686175"/>
            <a:ext cx="3048000" cy="723900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648325" y="3752850"/>
            <a:ext cx="2838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Named owner, next action, ETA and notes before every handoff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591550" y="3686175"/>
            <a:ext cx="3200400" cy="723900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8696325" y="3752850"/>
            <a:ext cx="29908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SLA risk, repeat visit, vendor delay or emergency event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400050" y="3686175"/>
            <a:ext cx="57150" cy="7239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400050" y="4410075"/>
            <a:ext cx="200025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04825" y="4476750"/>
            <a:ext cx="1790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Maintenance Supervisor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2400300" y="4410075"/>
            <a:ext cx="314325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2505075" y="4476750"/>
            <a:ext cx="2933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Technical triage, staffing, QA, parts and on-call coverage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543550" y="4410075"/>
            <a:ext cx="304800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648325" y="4476750"/>
            <a:ext cx="2838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Dispatch by skill/load; document diagnosis and resolution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8591550" y="4410075"/>
            <a:ext cx="320040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696325" y="4476750"/>
            <a:ext cx="29908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Life safety, compliance risk, displacement or major spend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00050" y="5133975"/>
            <a:ext cx="20002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504825" y="5200650"/>
            <a:ext cx="1790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Technician / Vendor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2400300" y="5133975"/>
            <a:ext cx="31432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2505075" y="5200650"/>
            <a:ext cx="29337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Safe execution, documentation, parts status and access outcome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5543550" y="5133975"/>
            <a:ext cx="30480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5648325" y="5200650"/>
            <a:ext cx="2838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Timestamp arrival; record work, materials and next step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8591550" y="5133975"/>
            <a:ext cx="32004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8696325" y="5200650"/>
            <a:ext cx="29908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Scope expands, authorization is missing or job cannot be contained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400050" y="2286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STANDARD OPERATING PROCEDURE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00050" y="495300"/>
            <a:ext cx="113919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SOP protects speed, safety and consistency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00050" y="12573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00050" y="1438275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CORE WORK ORDER SOP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00050" y="1790700"/>
            <a:ext cx="5314950" cy="7429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552450" y="1962150"/>
            <a:ext cx="361950" cy="36195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52450" y="2000250"/>
            <a:ext cx="361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1066800" y="1895475"/>
            <a:ext cx="4095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Log &amp; validate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1066800" y="2190750"/>
            <a:ext cx="4419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68"/>
              <a:buFont typeface="Arial"/>
              <a:buNone/>
            </a:pPr>
            <a:r>
              <a:rPr b="0" lang="en-US" sz="96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Create a unique ID; confirm contact, access, category, description and resident preference.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00050" y="2590800"/>
            <a:ext cx="5314950" cy="74295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52450" y="2762250"/>
            <a:ext cx="361950" cy="36195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552450" y="2800350"/>
            <a:ext cx="361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1066800" y="2695575"/>
            <a:ext cx="4095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Triage &amp; assign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1066800" y="2990850"/>
            <a:ext cx="4419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68"/>
              <a:buFont typeface="Arial"/>
              <a:buNone/>
            </a:pPr>
            <a:r>
              <a:rPr b="0" lang="en-US" sz="96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Apply the priority matrix, set the due date and route to the named owner by skill and load.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00050" y="3390900"/>
            <a:ext cx="5314950" cy="7429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552450" y="3562350"/>
            <a:ext cx="361950" cy="36195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552450" y="3600450"/>
            <a:ext cx="361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1066800" y="3495675"/>
            <a:ext cx="4095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Execute &amp; document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1066800" y="3790950"/>
            <a:ext cx="4419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68"/>
              <a:buFont typeface="Arial"/>
              <a:buNone/>
            </a:pPr>
            <a:r>
              <a:rPr b="0" lang="en-US" sz="96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Record arrival, diagnosis, work performed, parts, photos/invoice and next action before leaving.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00050" y="4191000"/>
            <a:ext cx="5314950" cy="74295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552450" y="4362450"/>
            <a:ext cx="361950" cy="36195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552450" y="4400550"/>
            <a:ext cx="361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1066800" y="4295775"/>
            <a:ext cx="4095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Close &amp; verify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1066800" y="4591050"/>
            <a:ext cx="4419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68"/>
              <a:buFont typeface="Arial"/>
              <a:buNone/>
            </a:pPr>
            <a:r>
              <a:rPr b="0" lang="en-US" sz="96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Write the completion summary, complete required QA and send resident confirmation plus survey.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400050" y="5095875"/>
            <a:ext cx="5314950" cy="876300"/>
          </a:xfrm>
          <a:prstGeom prst="rect">
            <a:avLst/>
          </a:prstGeom>
          <a:solidFill>
            <a:srgbClr val="D0E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590550" y="52387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Preventive maintenance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590550" y="5581650"/>
            <a:ext cx="48577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922"/>
              <a:buFont typeface="Arial"/>
              <a:buNone/>
            </a:pPr>
            <a:r>
              <a:rPr b="0" lang="en-US" sz="923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Publish the monthly due list · schedule 14 days early · capture evidence · reschedule exceptions within 5 days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6019800" y="1438275"/>
            <a:ext cx="5772150" cy="14097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6286500" y="162877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0EDFA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D0EDFA"/>
                </a:solidFill>
                <a:latin typeface="Arial"/>
                <a:ea typeface="Arial"/>
                <a:cs typeface="Arial"/>
                <a:sym typeface="Arial"/>
              </a:rPr>
              <a:t>EMERGENCY PATH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6286500" y="1952625"/>
            <a:ext cx="5219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9"/>
              <a:buFont typeface="Arial"/>
              <a:buNone/>
            </a:pPr>
            <a:r>
              <a:rPr b="1" lang="en-US" sz="140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P1 · Ack 5 min · dispatch 10 min · on-site 30 min</a:t>
            </a:r>
            <a:endParaRPr/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9"/>
              <a:buFont typeface="Arial"/>
              <a:buNone/>
            </a:pPr>
            <a:r>
              <a:rPr b="1" lang="en-US" sz="140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Stabilize within 4 h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286500" y="2495550"/>
            <a:ext cx="5219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3"/>
              <a:buFont typeface="Arial"/>
              <a:buNone/>
            </a:pPr>
            <a:r>
              <a:rPr b="0" lang="en-US" sz="8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imminent life safety, direct the resident to 911, then notify the on-call technician, Supervisor and Property Manager.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6019800" y="3086100"/>
            <a:ext cx="2857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ESCALATION LADDER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6019800" y="3400425"/>
            <a:ext cx="577215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191250" y="3514725"/>
            <a:ext cx="2333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69"/>
              <a:buFont typeface="Arial"/>
              <a:buNone/>
            </a:pPr>
            <a:r>
              <a:rPr b="1" lang="en-US" sz="1369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L1 · Operations Coordinator</a:t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8591550" y="3505200"/>
            <a:ext cx="3028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760"/>
              <a:buFont typeface="Arial"/>
              <a:buNone/>
            </a:pPr>
            <a:r>
              <a:rPr b="0" lang="en-US" sz="761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Missing access/data, resident unavailable, SLA risk or vendor ETA gap</a:t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6019800" y="3924300"/>
            <a:ext cx="577215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6191250" y="4038600"/>
            <a:ext cx="2333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5"/>
              <a:buFont typeface="Arial"/>
              <a:buNone/>
            </a:pPr>
            <a:r>
              <a:rPr b="1" lang="en-US" sz="1356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L2 · Maintenance Supervisor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8591550" y="4029075"/>
            <a:ext cx="3028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839"/>
              <a:buFont typeface="Arial"/>
              <a:buNone/>
            </a:pPr>
            <a:r>
              <a:rPr b="0" lang="en-US" sz="839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Repeat failure, second visit, parts delay, technical scope change</a:t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6019800" y="4448175"/>
            <a:ext cx="5772150" cy="457200"/>
          </a:xfrm>
          <a:prstGeom prst="rect">
            <a:avLst/>
          </a:prstGeom>
          <a:solidFill>
            <a:srgbClr val="D0E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6191250" y="4562475"/>
            <a:ext cx="2333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69"/>
              <a:buFont typeface="Arial"/>
              <a:buNone/>
            </a:pPr>
            <a:r>
              <a:rPr b="1" lang="en-US" sz="1369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L3 · Property Manager</a:t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8591550" y="4552950"/>
            <a:ext cx="3028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813"/>
              <a:buFont typeface="Arial"/>
              <a:buNone/>
            </a:pPr>
            <a:r>
              <a:rPr b="0" lang="en-US" sz="813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Life safety, displacement, compliance risk or spend above $1,500*</a:t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6019800" y="5095875"/>
            <a:ext cx="5772150" cy="876300"/>
          </a:xfrm>
          <a:prstGeom prst="rect">
            <a:avLst/>
          </a:prstGeom>
          <a:solidFill>
            <a:srgbClr val="E9ED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6191250" y="5229225"/>
            <a:ext cx="5143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87"/>
              <a:buFont typeface="Arial"/>
              <a:buNone/>
            </a:pPr>
            <a:r>
              <a:rPr b="1" lang="en-US" sz="168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Resident communication standard</a:t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6191250" y="5581650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892"/>
              <a:buFont typeface="Arial"/>
              <a:buNone/>
            </a:pPr>
            <a:r>
              <a:rPr b="0" lang="en-US" sz="893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Acknowledge · confirm appointment · update delays · send daily update if open &gt;24 h · close with summary + survey</a:t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8734425" y="6191250"/>
            <a:ext cx="30575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*Illustrative internal authorization threshold.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>
            <a:off x="400050" y="2286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KPI DASHBOARD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00050" y="495300"/>
            <a:ext cx="113919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Seven KPIs create one operating view</a:t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400050" y="12573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00050" y="1381125"/>
            <a:ext cx="1095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38"/>
              <a:buFont typeface="Arial"/>
              <a:buNone/>
            </a:pPr>
            <a:r>
              <a:rPr b="0" lang="en-US" sz="1538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Tracks service speed, queue health, resident experience, emergencies, vendors and preventive work.</a:t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400050" y="1733550"/>
            <a:ext cx="2381250" cy="4572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514350" y="1790700"/>
            <a:ext cx="2152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Arial"/>
              <a:buNone/>
            </a:pPr>
            <a:r>
              <a:rPr b="1" lang="en-US" sz="14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2781300" y="1733550"/>
            <a:ext cx="1714500" cy="4572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2895600" y="1790700"/>
            <a:ext cx="148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Arial"/>
              <a:buNone/>
            </a:pPr>
            <a:r>
              <a:rPr b="1" lang="en-US" sz="14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Baseline*</a:t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4495800" y="1733550"/>
            <a:ext cx="1905000" cy="4572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610100" y="1790700"/>
            <a:ext cx="1676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Arial"/>
              <a:buNone/>
            </a:pPr>
            <a:r>
              <a:rPr b="1" lang="en-US" sz="14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90-day target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400800" y="1733550"/>
            <a:ext cx="5391150" cy="45720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515100" y="1790700"/>
            <a:ext cx="51625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3"/>
              <a:buFont typeface="Arial"/>
              <a:buNone/>
            </a:pPr>
            <a:r>
              <a:rPr b="1" lang="en-US" sz="146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Definition · cadence · owner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400050" y="2190750"/>
            <a:ext cx="238125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495300" y="2247900"/>
            <a:ext cx="2190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First response</a:t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2781300" y="2190750"/>
            <a:ext cx="171450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2876550" y="2247900"/>
            <a:ext cx="152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0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11.4 h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4495800" y="2190750"/>
            <a:ext cx="1905000" cy="523875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4591050" y="2247900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≤2 business h</a:t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6400800" y="2190750"/>
            <a:ext cx="539115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6496050" y="2247900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Submit → first human action · weekly · OC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400050" y="2714625"/>
            <a:ext cx="238125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495300" y="2771775"/>
            <a:ext cx="2190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Completion time</a:t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2781300" y="2714625"/>
            <a:ext cx="171450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2876550" y="2771775"/>
            <a:ext cx="152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0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5.2 days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4495800" y="2714625"/>
            <a:ext cx="1905000" cy="523875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4591050" y="2771775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≤3 business days</a:t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6400800" y="2714625"/>
            <a:ext cx="539115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496050" y="2771775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Submit → close; resident holds excluded · weekly · MS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400050" y="3238500"/>
            <a:ext cx="238125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495300" y="3295650"/>
            <a:ext cx="2190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Resident satisfaction</a:t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2781300" y="3238500"/>
            <a:ext cx="171450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2876550" y="3295650"/>
            <a:ext cx="152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0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3.2 / 5</a:t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4495800" y="3238500"/>
            <a:ext cx="1905000" cy="523875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4591050" y="3295650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≥4.3 / 5</a:t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6400800" y="3238500"/>
            <a:ext cx="539115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6496050" y="3295650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Closure survey average · monthly · PM</a:t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400050" y="3762375"/>
            <a:ext cx="238125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495300" y="3819525"/>
            <a:ext cx="2190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43"/>
              <a:buFont typeface="Arial"/>
              <a:buNone/>
            </a:pPr>
            <a:r>
              <a:rPr b="1" lang="en-US" sz="1344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Open work orders / backlog</a:t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2781300" y="3762375"/>
            <a:ext cx="171450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2876550" y="3819525"/>
            <a:ext cx="152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0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4495800" y="3762375"/>
            <a:ext cx="1905000" cy="523875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4591050" y="3819525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≤20</a:t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6400800" y="3762375"/>
            <a:ext cx="539115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6496050" y="3819525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Open at day-end; flag priority breaches · daily · OC</a:t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400050" y="4286250"/>
            <a:ext cx="238125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495300" y="4343400"/>
            <a:ext cx="2190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Emergency on-site</a:t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2781300" y="4286250"/>
            <a:ext cx="171450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2876550" y="4343400"/>
            <a:ext cx="152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0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68%</a:t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4495800" y="4286250"/>
            <a:ext cx="1905000" cy="523875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4591050" y="4343400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≥95%</a:t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6400800" y="4286250"/>
            <a:ext cx="539115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6496050" y="4343400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Arrival within 30 minutes · monthly · MS</a:t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400050" y="4810125"/>
            <a:ext cx="238125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495300" y="4867275"/>
            <a:ext cx="2190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Vendor on-time</a:t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2781300" y="4810125"/>
            <a:ext cx="171450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2876550" y="4867275"/>
            <a:ext cx="152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0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72%</a:t>
            </a:r>
            <a:endParaRPr/>
          </a:p>
        </p:txBody>
      </p:sp>
      <p:sp>
        <p:nvSpPr>
          <p:cNvPr id="318" name="Google Shape;318;p7"/>
          <p:cNvSpPr/>
          <p:nvPr/>
        </p:nvSpPr>
        <p:spPr>
          <a:xfrm>
            <a:off x="4495800" y="4810125"/>
            <a:ext cx="1905000" cy="523875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4591050" y="4867275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≥90%</a:t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6400800" y="4810125"/>
            <a:ext cx="5391150" cy="523875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6496050" y="4867275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Vendor jobs closed by due date · monthly · OC</a:t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400050" y="5334000"/>
            <a:ext cx="238125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495300" y="5391150"/>
            <a:ext cx="2190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PM completion</a:t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2781300" y="5334000"/>
            <a:ext cx="171450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2876550" y="5391150"/>
            <a:ext cx="15240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38"/>
              <a:buFont typeface="Arial"/>
              <a:buNone/>
            </a:pPr>
            <a:r>
              <a:rPr b="0" lang="en-US" sz="1538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To baseline</a:t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4495800" y="5334000"/>
            <a:ext cx="1905000" cy="523875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4591050" y="5391150"/>
            <a:ext cx="1714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38"/>
              <a:buFont typeface="Arial"/>
              <a:buNone/>
            </a:pPr>
            <a:r>
              <a:rPr b="1" lang="en-US" sz="1538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≥95%</a:t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6400800" y="5334000"/>
            <a:ext cx="5391150" cy="523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6496050" y="5391150"/>
            <a:ext cx="5200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Due preventive tasks completed on time · monthly · MS</a:t>
            </a:r>
            <a:endParaRPr/>
          </a:p>
        </p:txBody>
      </p:sp>
      <p:sp>
        <p:nvSpPr>
          <p:cNvPr id="330" name="Google Shape;330;p7"/>
          <p:cNvSpPr/>
          <p:nvPr/>
        </p:nvSpPr>
        <p:spPr>
          <a:xfrm>
            <a:off x="400050" y="6038850"/>
            <a:ext cx="1074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163"/>
              <a:buFont typeface="Arial"/>
              <a:buNone/>
            </a:pPr>
            <a:r>
              <a:rPr b="0" lang="en-US" sz="1163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*Illustrative baseline assumption; targets are proposed, not achieved.  OC = Operations Coordinator · MS = Maintenance Supervisor · PM = Property Manager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"/>
          <p:cNvSpPr/>
          <p:nvPr/>
        </p:nvSpPr>
        <p:spPr>
          <a:xfrm>
            <a:off x="400050" y="2286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PROCESS IMPROVEMENT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400050" y="495300"/>
            <a:ext cx="113919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Five changes remove the most avoidable friction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400050" y="12573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400050" y="1381125"/>
            <a:ext cx="1000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Recommendations are sequenced around controls the team can maintain—not technology for its own sake.</a:t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400050" y="1743075"/>
            <a:ext cx="609600" cy="47625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514350" y="1819275"/>
            <a:ext cx="381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1009650" y="1743075"/>
            <a:ext cx="3333750" cy="47625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1123950" y="1819275"/>
            <a:ext cx="3105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</a:t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4343400" y="1743075"/>
            <a:ext cx="4191000" cy="47625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4457700" y="1819275"/>
            <a:ext cx="3962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Operating gain</a:t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8534400" y="1743075"/>
            <a:ext cx="3257550" cy="476250"/>
          </a:xfrm>
          <a:prstGeom prst="rect">
            <a:avLst/>
          </a:prstGeom>
          <a:solidFill>
            <a:srgbClr val="111111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8648700" y="1819275"/>
            <a:ext cx="30289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 artifact</a:t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400050" y="2219325"/>
            <a:ext cx="609600" cy="723900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504825" y="2295525"/>
            <a:ext cx="40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1009650" y="2219325"/>
            <a:ext cx="3333750" cy="723900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1114425" y="2295525"/>
            <a:ext cx="312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Centralize intake + required fields</a:t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4343400" y="2219325"/>
            <a:ext cx="4191000" cy="723900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4448175" y="2295525"/>
            <a:ext cx="398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Create a complete ticket at first touch and eliminate duplicate entry.</a:t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8534400" y="2219325"/>
            <a:ext cx="3257550" cy="723900"/>
          </a:xfrm>
          <a:prstGeom prst="rect">
            <a:avLst/>
          </a:prstGeom>
          <a:solidFill>
            <a:srgbClr val="D0EDFA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8639175" y="2295525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Work-order tracker + configured form</a:t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400050" y="2943225"/>
            <a:ext cx="60960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504825" y="3019425"/>
            <a:ext cx="40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1009650" y="2943225"/>
            <a:ext cx="333375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1114425" y="3019425"/>
            <a:ext cx="312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Apply priority matrix + SLA clocks</a:t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4343400" y="2943225"/>
            <a:ext cx="419100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4448175" y="3019425"/>
            <a:ext cx="398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Make triage consistent and surface risk before a service breach.</a:t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8534400" y="2943225"/>
            <a:ext cx="325755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8639175" y="3019425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Priority rules + due-date logic</a:t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400050" y="3667125"/>
            <a:ext cx="6096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504825" y="3743325"/>
            <a:ext cx="40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1009650" y="3667125"/>
            <a:ext cx="33337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1114425" y="3743325"/>
            <a:ext cx="312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Assign by skill, load + coverage</a:t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4343400" y="3667125"/>
            <a:ext cx="41910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4448175" y="3743325"/>
            <a:ext cx="398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Reduce reassignment and balance the technician queue deliberately.</a:t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8534400" y="3667125"/>
            <a:ext cx="32575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8639175" y="3743325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Skills matrix + capacity view</a:t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400050" y="4391025"/>
            <a:ext cx="60960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504825" y="4467225"/>
            <a:ext cx="40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1009650" y="4391025"/>
            <a:ext cx="333375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1114425" y="4467225"/>
            <a:ext cx="312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Standardize resident + vendor updates</a:t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4343400" y="4391025"/>
            <a:ext cx="419100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4448175" y="4467225"/>
            <a:ext cx="398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Reduce follow-up calls and make every external handoff traceable.</a:t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8534400" y="4391025"/>
            <a:ext cx="3257550" cy="723900"/>
          </a:xfrm>
          <a:prstGeom prst="rect">
            <a:avLst/>
          </a:prstGeom>
          <a:solidFill>
            <a:srgbClr val="F8F8F8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8639175" y="4467225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Message templates + vendor scorecard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400050" y="5114925"/>
            <a:ext cx="6096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504825" y="5191125"/>
            <a:ext cx="400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1009650" y="5114925"/>
            <a:ext cx="33337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"/>
          <p:cNvSpPr/>
          <p:nvPr/>
        </p:nvSpPr>
        <p:spPr>
          <a:xfrm>
            <a:off x="1114425" y="5191125"/>
            <a:ext cx="312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Run backlog + PM operating cadence</a:t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4343400" y="5114925"/>
            <a:ext cx="41910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8"/>
          <p:cNvSpPr/>
          <p:nvPr/>
        </p:nvSpPr>
        <p:spPr>
          <a:xfrm>
            <a:off x="4448175" y="5191125"/>
            <a:ext cx="398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Assign aging ownership and protect preventive work from daily emergencies.</a:t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8534400" y="5114925"/>
            <a:ext cx="325755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B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"/>
          <p:cNvSpPr/>
          <p:nvPr/>
        </p:nvSpPr>
        <p:spPr>
          <a:xfrm>
            <a:off x="8639175" y="5191125"/>
            <a:ext cx="304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63"/>
              <a:buFont typeface="Arial"/>
              <a:buNone/>
            </a:pPr>
            <a:r>
              <a:rPr b="0" lang="en-US" sz="146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Daily huddle + weekly review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"/>
          <p:cNvSpPr/>
          <p:nvPr/>
        </p:nvSpPr>
        <p:spPr>
          <a:xfrm>
            <a:off x="400050" y="22860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IMPLEMENTATION</a:t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400050" y="495300"/>
            <a:ext cx="113919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90-day rollout builds control before scale</a:t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400050" y="12573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400050" y="1381125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575"/>
              <a:buFont typeface="Arial"/>
              <a:buNone/>
            </a:pPr>
            <a:r>
              <a:rPr b="0" lang="en-US" sz="157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Pilot the operating rhythm first; refine thresholds and staffing rules using actual queue behavior.</a:t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400050" y="1733550"/>
            <a:ext cx="3695700" cy="3105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400050" y="1733550"/>
            <a:ext cx="3695700" cy="762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628650" y="2009775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DAYS 1–30</a:t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628650" y="2362200"/>
            <a:ext cx="3219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Build control</a:t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628650" y="2952750"/>
            <a:ext cx="321945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" lvl="0" marL="2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7"/>
              <a:buFont typeface="Arial"/>
              <a:buNone/>
            </a:pPr>
            <a:r>
              <a:rPr b="0" lang="en-US" sz="1407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Baseline volume, aging and categories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407"/>
              <a:buFont typeface="Arial"/>
              <a:buNone/>
            </a:pPr>
            <a:r>
              <a:rPr b="0" lang="en-US" sz="1407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Define priority matrix and service clocks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407"/>
              <a:buFont typeface="Arial"/>
              <a:buNone/>
            </a:pPr>
            <a:r>
              <a:rPr b="0" lang="en-US" sz="1407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Clean and assign the existing backlog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407"/>
              <a:buFont typeface="Arial"/>
              <a:buNone/>
            </a:pPr>
            <a:r>
              <a:rPr b="0" lang="en-US" sz="1407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Train resident services and on-call staff</a:t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4248150" y="1733550"/>
            <a:ext cx="3695700" cy="3105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4248150" y="1733550"/>
            <a:ext cx="3695700" cy="762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4476750" y="2009775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DAYS 31–60</a:t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4476750" y="2362200"/>
            <a:ext cx="3219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Pilot and calibrate</a:t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4476750" y="2952750"/>
            <a:ext cx="321945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" lvl="0" marL="2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2"/>
              <a:buFont typeface="Arial"/>
              <a:buNone/>
            </a:pPr>
            <a:r>
              <a:rPr b="0" lang="en-US" sz="125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Launch one intake path and daily queue huddle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252"/>
              <a:buFont typeface="Arial"/>
              <a:buNone/>
            </a:pPr>
            <a:r>
              <a:rPr b="0" lang="en-US" sz="125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Use resident communication templates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252"/>
              <a:buFont typeface="Arial"/>
              <a:buNone/>
            </a:pPr>
            <a:r>
              <a:rPr b="0" lang="en-US" sz="125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Start vendor scorecard and emergency drills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252"/>
              <a:buFont typeface="Arial"/>
              <a:buNone/>
            </a:pPr>
            <a:r>
              <a:rPr b="0" lang="en-US" sz="1253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Review misses; adjust routing and due dates</a:t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8096250" y="1733550"/>
            <a:ext cx="3695700" cy="3105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8096250" y="1733550"/>
            <a:ext cx="3695700" cy="7620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8324850" y="2009775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DAYS 61–90</a:t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8324850" y="2362200"/>
            <a:ext cx="3219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75"/>
              <a:buFont typeface="Arial"/>
              <a:buNone/>
            </a:pPr>
            <a:r>
              <a:rPr b="1" lang="en-US" sz="217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Institutionalize</a:t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8324850" y="2952750"/>
            <a:ext cx="321945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2" lvl="0" marL="2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80"/>
              <a:buFont typeface="Arial"/>
              <a:buNone/>
            </a:pPr>
            <a:r>
              <a:rPr b="0" lang="en-US" sz="148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Audit closure quality and repeat visits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480"/>
              <a:buFont typeface="Arial"/>
              <a:buNone/>
            </a:pPr>
            <a:r>
              <a:rPr b="0" lang="en-US" sz="148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Tune skill/load assignment rules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480"/>
              <a:buFont typeface="Arial"/>
              <a:buNone/>
            </a:pPr>
            <a:r>
              <a:rPr b="0" lang="en-US" sz="148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Publish the SOP and KPI dashboard</a:t>
            </a:r>
            <a:endParaRPr/>
          </a:p>
          <a:p>
            <a:pPr indent="-12" lvl="0" marL="20" marR="0" rtl="0" algn="l">
              <a:lnSpc>
                <a:spcPct val="106000"/>
              </a:lnSpc>
              <a:spcBef>
                <a:spcPts val="650"/>
              </a:spcBef>
              <a:spcAft>
                <a:spcPts val="0"/>
              </a:spcAft>
              <a:buClr>
                <a:srgbClr val="111111"/>
              </a:buClr>
              <a:buSzPts val="1480"/>
              <a:buFont typeface="Arial"/>
              <a:buNone/>
            </a:pPr>
            <a:r>
              <a:rPr b="0" lang="en-US" sz="148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Move to weekly governance and monthly review</a:t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400050" y="5048250"/>
            <a:ext cx="11391900" cy="1066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590550" y="518160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0EDF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0EDFA"/>
                </a:solidFill>
                <a:latin typeface="Arial"/>
                <a:ea typeface="Arial"/>
                <a:cs typeface="Arial"/>
                <a:sym typeface="Arial"/>
              </a:rPr>
              <a:t>PROPOSED 90-DAY TARGETS</a:t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590550" y="5391150"/>
            <a:ext cx="2247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≤2 h</a:t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590550" y="5810250"/>
            <a:ext cx="2247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D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D0EDFA"/>
                </a:solidFill>
                <a:latin typeface="Arial"/>
                <a:ea typeface="Arial"/>
                <a:cs typeface="Arial"/>
                <a:sym typeface="Arial"/>
              </a:rPr>
              <a:t>BUSINESS-HOUR RESPONSE</a:t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3409950" y="5391150"/>
            <a:ext cx="2247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≤3 d</a:t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3409950" y="5810250"/>
            <a:ext cx="2247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D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D0EDFA"/>
                </a:solidFill>
                <a:latin typeface="Arial"/>
                <a:ea typeface="Arial"/>
                <a:cs typeface="Arial"/>
                <a:sym typeface="Arial"/>
              </a:rPr>
              <a:t>BUSINESS-DAY COMPLETION</a:t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6229350" y="5391150"/>
            <a:ext cx="2247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≤20</a:t>
            </a:r>
            <a:endParaRPr/>
          </a:p>
        </p:txBody>
      </p:sp>
      <p:sp>
        <p:nvSpPr>
          <p:cNvPr id="421" name="Google Shape;421;p9"/>
          <p:cNvSpPr/>
          <p:nvPr/>
        </p:nvSpPr>
        <p:spPr>
          <a:xfrm>
            <a:off x="6229350" y="5810250"/>
            <a:ext cx="2247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D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D0EDFA"/>
                </a:solidFill>
                <a:latin typeface="Arial"/>
                <a:ea typeface="Arial"/>
                <a:cs typeface="Arial"/>
                <a:sym typeface="Arial"/>
              </a:rPr>
              <a:t>OPEN QUEUE</a:t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9048750" y="5391150"/>
            <a:ext cx="247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≥4.3/5</a:t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9048750" y="5810250"/>
            <a:ext cx="2476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DF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D0EDFA"/>
                </a:solidFill>
                <a:latin typeface="Arial"/>
                <a:ea typeface="Arial"/>
                <a:cs typeface="Arial"/>
                <a:sym typeface="Arial"/>
              </a:rPr>
              <a:t>RESIDENT SATISFACTION</a:t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3105150" y="5286375"/>
            <a:ext cx="9525" cy="7048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5924550" y="5286375"/>
            <a:ext cx="9525" cy="7048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8743950" y="5286375"/>
            <a:ext cx="9525" cy="70485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"/>
          <p:cNvSpPr/>
          <p:nvPr/>
        </p:nvSpPr>
        <p:spPr>
          <a:xfrm>
            <a:off x="400050" y="34290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5FC6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5FC6"/>
                </a:solidFill>
                <a:latin typeface="Arial"/>
                <a:ea typeface="Arial"/>
                <a:cs typeface="Arial"/>
                <a:sym typeface="Arial"/>
              </a:rPr>
              <a:t>PORTFOLIO TAKEAWAY</a:t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7239000" y="342900"/>
            <a:ext cx="4552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PACIFIC CREST APARTMENTS · FICTIONAL SCENARIO</a:t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400050" y="838200"/>
            <a:ext cx="11391900" cy="1905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400050" y="1657350"/>
            <a:ext cx="133350" cy="2676525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781050" y="1581150"/>
            <a:ext cx="95250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practical system—</a:t>
            </a:r>
            <a:endParaRPr/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ready to operate.</a:t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781050" y="47244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Process control from intake through closeout</a:t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781050" y="5153025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Daily ownership and clear escalation</a:t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781050" y="558165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50"/>
              <a:buFont typeface="Arial"/>
              <a:buNone/>
            </a:pPr>
            <a:r>
              <a:rPr b="1" lang="en-US" sz="1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Metrics that make service risk visible</a:t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8096250" y="4686300"/>
            <a:ext cx="3695700" cy="1200150"/>
          </a:xfrm>
          <a:prstGeom prst="rect">
            <a:avLst/>
          </a:prstGeom>
          <a:solidFill>
            <a:srgbClr val="D0E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8324850" y="4914900"/>
            <a:ext cx="3238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25"/>
              <a:buFont typeface="Arial"/>
              <a:buNone/>
            </a:pPr>
            <a:r>
              <a:rPr b="1" lang="en-US" sz="2025">
                <a:solidFill>
                  <a:srgbClr val="111111"/>
                </a:solidFill>
              </a:rPr>
              <a:t>Kelsi Gooden</a:t>
            </a:r>
            <a:r>
              <a:rPr b="1" lang="en-US" sz="2025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, MBA</a:t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8324850" y="5362575"/>
            <a:ext cx="3238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342"/>
              <a:buFont typeface="Arial"/>
              <a:buNone/>
            </a:pPr>
            <a:r>
              <a:rPr b="0" lang="en-US" sz="1343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Operations &amp; Property Operations Portfolio</a:t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11296650" y="6486525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F6670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5F66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